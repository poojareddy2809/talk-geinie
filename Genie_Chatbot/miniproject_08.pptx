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6" r:id="rId2"/>
    <p:sldId id="268" r:id="rId3"/>
    <p:sldId id="258" r:id="rId4"/>
    <p:sldId id="259" r:id="rId5"/>
    <p:sldId id="267" r:id="rId6"/>
    <p:sldId id="260" r:id="rId7"/>
    <p:sldId id="265" r:id="rId8"/>
    <p:sldId id="274" r:id="rId9"/>
    <p:sldId id="275" r:id="rId10"/>
    <p:sldId id="269" r:id="rId11"/>
    <p:sldId id="276" r:id="rId12"/>
    <p:sldId id="277" r:id="rId13"/>
    <p:sldId id="270" r:id="rId14"/>
    <p:sldId id="263" r:id="rId15"/>
    <p:sldId id="272" r:id="rId16"/>
    <p:sldId id="273" r:id="rId17"/>
    <p:sldId id="264" r:id="rId18"/>
  </p:sldIdLst>
  <p:sldSz cx="9144000" cy="6858000" type="screen4x3"/>
  <p:notesSz cx="6858000" cy="9144000"/>
  <p:defaultTextStyle>
    <a:defPPr>
      <a:defRPr lang="en-US"/>
    </a:defPPr>
    <a:lvl1pPr algn="l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+mn-ea"/>
        <a:cs typeface="+mn-cs"/>
      </a:defRPr>
    </a:lvl1pPr>
    <a:lvl2pPr marL="457200" algn="l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+mn-ea"/>
        <a:cs typeface="+mn-cs"/>
      </a:defRPr>
    </a:lvl2pPr>
    <a:lvl3pPr marL="914400" algn="l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+mn-ea"/>
        <a:cs typeface="+mn-cs"/>
      </a:defRPr>
    </a:lvl3pPr>
    <a:lvl4pPr marL="1371600" algn="l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+mn-ea"/>
        <a:cs typeface="+mn-cs"/>
      </a:defRPr>
    </a:lvl4pPr>
    <a:lvl5pPr marL="1828800" algn="l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+mn-ea"/>
        <a:cs typeface="+mn-cs"/>
      </a:defRPr>
    </a:lvl5pPr>
    <a:lvl6pPr marL="2286000" algn="l" defTabSz="914400">
      <a:defRPr>
        <a:solidFill>
          <a:schemeClr val="tx1"/>
        </a:solidFill>
        <a:latin typeface="Calibri"/>
        <a:ea typeface="+mn-ea"/>
        <a:cs typeface="+mn-cs"/>
      </a:defRPr>
    </a:lvl6pPr>
    <a:lvl7pPr marL="2743200" algn="l" defTabSz="914400">
      <a:defRPr>
        <a:solidFill>
          <a:schemeClr val="tx1"/>
        </a:solidFill>
        <a:latin typeface="Calibri"/>
        <a:ea typeface="+mn-ea"/>
        <a:cs typeface="+mn-cs"/>
      </a:defRPr>
    </a:lvl7pPr>
    <a:lvl8pPr marL="3200400" algn="l" defTabSz="914400">
      <a:defRPr>
        <a:solidFill>
          <a:schemeClr val="tx1"/>
        </a:solidFill>
        <a:latin typeface="Calibri"/>
        <a:ea typeface="+mn-ea"/>
        <a:cs typeface="+mn-cs"/>
      </a:defRPr>
    </a:lvl8pPr>
    <a:lvl9pPr marL="3657600" algn="l" defTabSz="914400">
      <a:defRPr>
        <a:solidFill>
          <a:schemeClr val="tx1"/>
        </a:solidFill>
        <a:latin typeface="Calibri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09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0A15C55-8517-42AA-B614-E9B94910E393}"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  <a:fill>
          <a:solidFill>
            <a:schemeClr val="accent4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6" d="100"/>
          <a:sy n="96" d="100"/>
        </p:scale>
        <p:origin x="1066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A40FE05-DF68-EE48-9BD6-EB950DB9B0A8}" type="datetimeFigureOut">
              <a:rPr lang="en-US"/>
              <a:t>5/2/2025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ts val="0"/>
              </a:spcBef>
              <a:spcAft>
                <a:spcPts val="0"/>
              </a:spcAft>
              <a:defRPr sz="1200">
                <a:latin typeface="Calibri"/>
              </a:defRPr>
            </a:lvl1pPr>
          </a:lstStyle>
          <a:p>
            <a:pPr>
              <a:defRPr/>
            </a:pPr>
            <a:fld id="{AEB7530B-FADF-3841-BF0D-A65637F84C0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0B8F8B-9E4B-4D13-330D-560DABCE475B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7698A-B12A-6985-DC60-9CD966F4E12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3A84FEC0-47E2-5889-0397-C090F1E8C77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AC58FA7A-7856-B7C5-B5FF-C8A2C59E3A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  <a:defRPr/>
            </a:pPr>
            <a:endParaRPr 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F16FBA76-610C-9B1F-6845-2748E9DE9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4626E999-8E2A-1946-A298-804C79F3AD9B}" type="slidenum">
              <a:rPr lang="en-US">
                <a:cs typeface="Arial"/>
              </a:rPr>
              <a:t>2</a:t>
            </a:fld>
            <a:endParaRPr lang="en-US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3281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C31C1B-91A8-46D1-485A-7C6810F941B8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4B9D93-5A57-DEBE-5779-95F68B1025D5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602B0-C1AB-6CB1-8A3E-7CD8F2BB81A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857C1-515D-CF56-CC86-063303857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F2EFA-43F1-9E2C-C1AF-865E603E78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5B190-87D9-A90A-F637-551E018646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4B9D93-5A57-DEBE-5779-95F68B1025D5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75248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84285C-1811-6502-ED3A-5D6AB57DF587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201D2-A3E7-688E-E4C3-01B162D29E1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027BF-B853-33D2-92F0-E0E9F0362A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BC82CB-2225-481C-D761-AABD401A8CE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0A4F6-9D8A-5E34-10FD-B0782C5AA9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84285C-1811-6502-ED3A-5D6AB57DF587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6191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F4ED0-DDDF-C2AB-F983-8422B1826A3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6C4007-0D9F-F65E-7E89-BD8A7579A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37F6F6-38E2-76EF-8C2E-5184066F77B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C5AE3-6C19-3283-6D69-38ED112D7B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84285C-1811-6502-ED3A-5D6AB57DF587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3845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02AE0-9BC1-3E9D-D426-3BED5619E2D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10EBBA-1A82-C6C4-ABC3-4691379AB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B8B54-B85F-D61E-8A3C-8B54B4809D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3A53C-D4A8-461B-B499-8D0B05EFF6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84285C-1811-6502-ED3A-5D6AB57DF587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7312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4EB06-113D-B545-B7E7-D3FD75E117F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4B8CA-B87E-A1DB-B603-04F115C65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C4FF0-5BD6-E146-2077-139200F00F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12A11A-BF47-06AA-D885-FFA34AB155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84285C-1811-6502-ED3A-5D6AB57DF587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38745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C4758-D325-150F-5EEF-814931F6EAF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FB882-8425-762B-60F6-9599EDA02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32D2E2-6B3D-EA0A-2736-18CFE0A8D47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3C37C-BD63-F732-F999-67AD4BA081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84285C-1811-6502-ED3A-5D6AB57DF587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7478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8043E4-A78B-9F4C-40D0-D40395AE8AA1}" type="slidenum">
              <a:rPr/>
              <a:t>14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789B7-DE6B-3BED-EA84-44137FD2DBC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7466A6-EA5E-7ECA-9DF8-F434B59B0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E5B0A6-ECC7-286B-4ECE-1C91AAF17A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FC1BC-8579-C97D-2C48-C236B9293E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8043E4-A78B-9F4C-40D0-D40395AE8AA1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44339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7CE37-4C0B-C18F-75E6-B35DF73B39C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9F598-F871-9B09-BBCB-E09A5A367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2F3070-ABC7-FCDC-8B24-B8B6D253AB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98170-A504-70FA-DBB6-C421B8DD1F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8043E4-A78B-9F4C-40D0-D40395AE8AA1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15077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095004-85E5-CA50-4675-ABB109946DFE}" type="slidenum">
              <a:rPr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B310D6E-CCE1-A149-B54A-E4CD6CA0323C}" type="datetime1">
              <a:rPr lang="en-US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IT PROJECT WORK PHASE-1 REVIEW-1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FDA5DD7C-245B-454D-BBB8-61B54529664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2FDA1DB-7280-434A-B189-E8E1FBF4E1B4}" type="datetime1">
              <a:rPr lang="en-US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IT PROJECT WORK PHASE-1 REVIEW-1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8696073-0439-0442-AC0F-3387FBE4863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D4F6A084-0035-2F43-A06A-54F3E1AF4003}" type="datetime1">
              <a:rPr lang="en-US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IT PROJECT WORK PHASE-1 REVIEW-1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F64754A-C814-C347-830D-F0FDDA2AE7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286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29150" y="1825625"/>
            <a:ext cx="38862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347B47F5-CE2C-254D-A586-3AB1D5A07357}" type="datetime1">
              <a:rPr lang="en-US"/>
              <a:t>5/2/2025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IT PROJECT WORK PHASE-1 REVIEW-1</a:t>
            </a:r>
            <a:endParaRPr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E983558-648C-4647-929A-D401D85615A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29841" y="365126"/>
            <a:ext cx="78867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29842" y="2505074"/>
            <a:ext cx="3868340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29150" y="2505074"/>
            <a:ext cx="3887391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38A6FD5-96EF-F944-AD30-1C298BA7907F}" type="datetime1">
              <a:rPr lang="en-US"/>
              <a:t>5/2/2025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IT PROJECT WORK PHASE-1 REVIEW-1</a:t>
            </a:r>
            <a:endParaRPr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FF18FF40-D1C3-454C-97EE-D1AEBADCD4C1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ADACE05A-4825-4A4C-988E-F1C0BEF4DB57}" type="datetime1">
              <a:rPr lang="en-US"/>
              <a:t>5/2/2025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IT PROJECT WORK PHASE-1 REVIEW-1</a:t>
            </a:r>
            <a:endParaRPr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FF922116-F8A8-A244-9026-EC4C3B96A0B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75B63E2-2B32-7544-A97F-C4883F27DB3D}" type="datetime1">
              <a:rPr lang="en-US"/>
              <a:t>5/2/2025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IT PROJECT WORK PHASE-1 REVIEW-1</a:t>
            </a:r>
            <a:endParaRPr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3986CB4-0795-EF46-9C01-0365489928F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AF8733E-5D60-5D4C-9D54-3E192EB015C9}" type="datetime1">
              <a:rPr lang="en-US"/>
              <a:t>5/2/2025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IT PROJECT WORK PHASE-1 REVIEW-1</a:t>
            </a:r>
            <a:endParaRPr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62C36DF-6C11-FF46-914C-2A5CEA1D13F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>
              <a:defRPr/>
            </a:pP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490F8A4-712A-7A48-BA15-9381D7937D33}" type="datetime1">
              <a:rPr lang="en-US"/>
              <a:t>5/2/2025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IT PROJECT WORK PHASE-1 REVIEW-1</a:t>
            </a:r>
            <a:endParaRPr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EB9BC72-568A-CF40-9380-7AC683B4E9F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4ED810BD-6EE7-5845-8542-38485BD727BE}" type="datetime1">
              <a:rPr lang="en-US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IT PROJECT WORK PHASE-1 REVIEW-1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38AC9A59-4DA6-9048-85E2-5E94805EA4E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543675" y="365125"/>
            <a:ext cx="1971675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48D4257-1B16-3D4F-9BA0-F984EC6F75CF}" type="datetime1">
              <a:rPr lang="en-US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IT PROJECT WORK PHASE-1 REVIEW-1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A0F8CC7D-DBF4-BC43-B794-63258C44871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E1FFBDB-6FD4-0044-8794-42ECC3E2BB97}" type="datetime1">
              <a:rPr lang="en-US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DEPARTMENT OF IT PROJECT WORK PHASE-1 REVIEW-1</a:t>
            </a: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E8672C8F-734D-9C42-B8A2-07C063D17BF6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685800">
        <a:lnSpc>
          <a:spcPct val="90000"/>
        </a:lnSpc>
        <a:spcBef>
          <a:spcPts val="0"/>
        </a:spcBef>
        <a:spcAft>
          <a:spcPts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>
        <a:lnSpc>
          <a:spcPct val="90000"/>
        </a:lnSpc>
        <a:spcBef>
          <a:spcPts val="0"/>
        </a:spcBef>
        <a:spcAft>
          <a:spcPts val="0"/>
        </a:spcAft>
        <a:defRPr sz="3300">
          <a:solidFill>
            <a:schemeClr val="tx1"/>
          </a:solidFill>
          <a:latin typeface="Calibri Light"/>
        </a:defRPr>
      </a:lvl2pPr>
      <a:lvl3pPr algn="l" defTabSz="685800">
        <a:lnSpc>
          <a:spcPct val="90000"/>
        </a:lnSpc>
        <a:spcBef>
          <a:spcPts val="0"/>
        </a:spcBef>
        <a:spcAft>
          <a:spcPts val="0"/>
        </a:spcAft>
        <a:defRPr sz="3300">
          <a:solidFill>
            <a:schemeClr val="tx1"/>
          </a:solidFill>
          <a:latin typeface="Calibri Light"/>
        </a:defRPr>
      </a:lvl3pPr>
      <a:lvl4pPr algn="l" defTabSz="685800">
        <a:lnSpc>
          <a:spcPct val="90000"/>
        </a:lnSpc>
        <a:spcBef>
          <a:spcPts val="0"/>
        </a:spcBef>
        <a:spcAft>
          <a:spcPts val="0"/>
        </a:spcAft>
        <a:defRPr sz="3300">
          <a:solidFill>
            <a:schemeClr val="tx1"/>
          </a:solidFill>
          <a:latin typeface="Calibri Light"/>
        </a:defRPr>
      </a:lvl4pPr>
      <a:lvl5pPr algn="l" defTabSz="685800">
        <a:lnSpc>
          <a:spcPct val="90000"/>
        </a:lnSpc>
        <a:spcBef>
          <a:spcPts val="0"/>
        </a:spcBef>
        <a:spcAft>
          <a:spcPts val="0"/>
        </a:spcAft>
        <a:defRPr sz="3300">
          <a:solidFill>
            <a:schemeClr val="tx1"/>
          </a:solidFill>
          <a:latin typeface="Calibri Light"/>
        </a:defRPr>
      </a:lvl5pPr>
      <a:lvl6pPr marL="457200" algn="l" defTabSz="685800">
        <a:lnSpc>
          <a:spcPct val="90000"/>
        </a:lnSpc>
        <a:spcBef>
          <a:spcPts val="0"/>
        </a:spcBef>
        <a:spcAft>
          <a:spcPts val="0"/>
        </a:spcAft>
        <a:defRPr sz="3300">
          <a:solidFill>
            <a:schemeClr val="tx1"/>
          </a:solidFill>
          <a:latin typeface="Calibri Light"/>
        </a:defRPr>
      </a:lvl6pPr>
      <a:lvl7pPr marL="914400" algn="l" defTabSz="685800">
        <a:lnSpc>
          <a:spcPct val="90000"/>
        </a:lnSpc>
        <a:spcBef>
          <a:spcPts val="0"/>
        </a:spcBef>
        <a:spcAft>
          <a:spcPts val="0"/>
        </a:spcAft>
        <a:defRPr sz="3300">
          <a:solidFill>
            <a:schemeClr val="tx1"/>
          </a:solidFill>
          <a:latin typeface="Calibri Light"/>
        </a:defRPr>
      </a:lvl7pPr>
      <a:lvl8pPr marL="1371600" algn="l" defTabSz="685800">
        <a:lnSpc>
          <a:spcPct val="90000"/>
        </a:lnSpc>
        <a:spcBef>
          <a:spcPts val="0"/>
        </a:spcBef>
        <a:spcAft>
          <a:spcPts val="0"/>
        </a:spcAft>
        <a:defRPr sz="3300">
          <a:solidFill>
            <a:schemeClr val="tx1"/>
          </a:solidFill>
          <a:latin typeface="Calibri Light"/>
        </a:defRPr>
      </a:lvl8pPr>
      <a:lvl9pPr marL="1828800" algn="l" defTabSz="685800">
        <a:lnSpc>
          <a:spcPct val="90000"/>
        </a:lnSpc>
        <a:spcBef>
          <a:spcPts val="0"/>
        </a:spcBef>
        <a:spcAft>
          <a:spcPts val="0"/>
        </a:spcAft>
        <a:defRPr sz="3300">
          <a:solidFill>
            <a:schemeClr val="tx1"/>
          </a:solidFill>
          <a:latin typeface="Calibri Light"/>
        </a:defRPr>
      </a:lvl9pPr>
    </p:titleStyle>
    <p:bodyStyle>
      <a:lvl1pPr marL="171450" indent="-171450" algn="l" defTabSz="685800">
        <a:lnSpc>
          <a:spcPct val="90000"/>
        </a:lnSpc>
        <a:spcBef>
          <a:spcPts val="750"/>
        </a:spcBef>
        <a:spcAft>
          <a:spcPts val="0"/>
        </a:spcAft>
        <a:buFont typeface="Arial"/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>
        <a:lnSpc>
          <a:spcPct val="90000"/>
        </a:lnSpc>
        <a:spcBef>
          <a:spcPts val="375"/>
        </a:spcBef>
        <a:spcAft>
          <a:spcPts val="0"/>
        </a:spcAft>
        <a:buFont typeface="Arial"/>
        <a:buChar char="•"/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>
        <a:lnSpc>
          <a:spcPct val="90000"/>
        </a:lnSpc>
        <a:spcBef>
          <a:spcPts val="375"/>
        </a:spcBef>
        <a:spcAft>
          <a:spcPts val="0"/>
        </a:spcAft>
        <a:buFont typeface="Arial"/>
        <a:buChar char="•"/>
        <a:defRPr sz="15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>
        <a:lnSpc>
          <a:spcPct val="90000"/>
        </a:lnSpc>
        <a:spcBef>
          <a:spcPts val="375"/>
        </a:spcBef>
        <a:spcAft>
          <a:spcPts val="0"/>
        </a:spcAft>
        <a:buFont typeface="Arial"/>
        <a:buChar char="•"/>
        <a:defRPr sz="13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>
        <a:lnSpc>
          <a:spcPct val="90000"/>
        </a:lnSpc>
        <a:spcBef>
          <a:spcPts val="375"/>
        </a:spcBef>
        <a:spcAft>
          <a:spcPts val="0"/>
        </a:spcAft>
        <a:buFont typeface="Arial"/>
        <a:buChar char="•"/>
        <a:defRPr sz="13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>
        <a:defRPr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 bwMode="auto">
          <a:xfrm>
            <a:off x="152399" y="70763"/>
            <a:ext cx="8839200" cy="66643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 sz="44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773624" y="-204454"/>
            <a:ext cx="7596749" cy="1703069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en-US" sz="2900" b="1" dirty="0">
                <a:latin typeface="Bahamas"/>
              </a:rPr>
              <a:t>   </a:t>
            </a:r>
            <a:r>
              <a:rPr lang="en-US" sz="2400" b="1" dirty="0">
                <a:solidFill>
                  <a:srgbClr val="C00000"/>
                </a:solidFill>
                <a:latin typeface="Bahamas"/>
              </a:rPr>
              <a:t>VARDHAMAN COLLEGE OF ENGINEERING, HYDERABAD</a:t>
            </a:r>
            <a:br>
              <a:rPr lang="en-US" sz="2900" b="1" dirty="0">
                <a:latin typeface="Bahamas"/>
              </a:rPr>
            </a:br>
            <a:r>
              <a:rPr lang="en-US" sz="2400" b="1" dirty="0"/>
              <a:t>Autonomous institute affiliated to JNTUH </a:t>
            </a:r>
            <a:br>
              <a:rPr lang="en-US" sz="2400" dirty="0"/>
            </a:br>
            <a:r>
              <a:rPr lang="en-US" sz="2400" b="1" dirty="0">
                <a:solidFill>
                  <a:srgbClr val="FF0000"/>
                </a:solidFill>
              </a:rPr>
              <a:t>DEPARTMENT OF CSE(AI&amp;ML)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t-EE" sz="2400" b="1" dirty="0">
                <a:solidFill>
                  <a:srgbClr val="FF0000"/>
                </a:solidFill>
              </a:rPr>
              <a:t>Mini Project (A8041)</a:t>
            </a:r>
            <a:endParaRPr lang="en-US" sz="3600" b="1" dirty="0"/>
          </a:p>
        </p:txBody>
      </p:sp>
      <p:sp>
        <p:nvSpPr>
          <p:cNvPr id="7" name="Subtitle 2"/>
          <p:cNvSpPr txBox="1"/>
          <p:nvPr/>
        </p:nvSpPr>
        <p:spPr bwMode="auto">
          <a:xfrm>
            <a:off x="226612" y="5326619"/>
            <a:ext cx="8686800" cy="13716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3300" b="1" u="sng" dirty="0">
                <a:solidFill>
                  <a:srgbClr val="FF0000"/>
                </a:solidFill>
              </a:rPr>
              <a:t>Supervisor</a:t>
            </a:r>
            <a:endParaRPr dirty="0"/>
          </a:p>
          <a:p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3000" b="1" dirty="0">
                <a:solidFill>
                  <a:srgbClr val="002060"/>
                </a:solidFill>
              </a:rPr>
              <a:t>Mr. N S </a:t>
            </a:r>
            <a:r>
              <a:rPr lang="en-US" sz="3000" b="1" dirty="0" err="1">
                <a:solidFill>
                  <a:srgbClr val="002060"/>
                </a:solidFill>
              </a:rPr>
              <a:t>S</a:t>
            </a:r>
            <a:r>
              <a:rPr lang="en-US" sz="3000" b="1" dirty="0">
                <a:solidFill>
                  <a:srgbClr val="002060"/>
                </a:solidFill>
              </a:rPr>
              <a:t> </a:t>
            </a:r>
            <a:r>
              <a:rPr lang="en-US" sz="3000" b="1" dirty="0" err="1">
                <a:solidFill>
                  <a:srgbClr val="002060"/>
                </a:solidFill>
              </a:rPr>
              <a:t>S</a:t>
            </a:r>
            <a:r>
              <a:rPr lang="en-US" sz="3000" b="1" dirty="0">
                <a:solidFill>
                  <a:srgbClr val="002060"/>
                </a:solidFill>
              </a:rPr>
              <a:t> GIRISH KUMAR</a:t>
            </a:r>
            <a:endParaRPr dirty="0"/>
          </a:p>
          <a:p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Assistant Professor</a:t>
            </a:r>
            <a:endParaRPr dirty="0"/>
          </a:p>
          <a:p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r>
              <a:rPr lang="en-US" sz="2200" b="1" dirty="0">
                <a:solidFill>
                  <a:srgbClr val="002060"/>
                </a:solidFill>
              </a:rPr>
              <a:t>Department of CSM</a:t>
            </a:r>
            <a:endParaRPr dirty="0"/>
          </a:p>
          <a:p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  <a:defRPr/>
            </a:pPr>
            <a:endParaRPr lang="en-US" sz="1600" b="1" dirty="0">
              <a:solidFill>
                <a:srgbClr val="002060"/>
              </a:solidFill>
            </a:endParaRPr>
          </a:p>
        </p:txBody>
      </p:sp>
      <p:sp>
        <p:nvSpPr>
          <p:cNvPr id="9" name="Title 1"/>
          <p:cNvSpPr txBox="1"/>
          <p:nvPr/>
        </p:nvSpPr>
        <p:spPr bwMode="auto">
          <a:xfrm>
            <a:off x="2741212" y="2360009"/>
            <a:ext cx="3657600" cy="5334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BATCH ID :</a:t>
            </a:r>
            <a:r>
              <a:rPr lang="en-US" sz="2400" b="1" i="0" u="none" strike="noStrike" cap="none" spc="0" dirty="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22CSMPW-08</a:t>
            </a:r>
            <a:r>
              <a:rPr lang="en-US" sz="2400" b="1" dirty="0"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 </a:t>
            </a:r>
            <a:endParaRPr dirty="0"/>
          </a:p>
        </p:txBody>
      </p:sp>
      <p:sp>
        <p:nvSpPr>
          <p:cNvPr id="10" name="Title 1"/>
          <p:cNvSpPr txBox="1"/>
          <p:nvPr/>
        </p:nvSpPr>
        <p:spPr bwMode="auto">
          <a:xfrm>
            <a:off x="304800" y="1531381"/>
            <a:ext cx="8610600" cy="714747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>
            <a:normAutofit fontScale="85000" lnSpcReduction="10000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Title: </a:t>
            </a:r>
            <a:r>
              <a:rPr lang="en-US" sz="2800" b="1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TalkGenie</a:t>
            </a:r>
            <a:r>
              <a:rPr lang="en-US" sz="28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: Intent and Sentiment–Aware Multilingual Chatbot </a:t>
            </a:r>
            <a:endParaRPr dirty="0">
              <a:solidFill>
                <a:schemeClr val="bg1"/>
              </a:solidFill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921015"/>
              </p:ext>
            </p:extLst>
          </p:nvPr>
        </p:nvGraphicFramePr>
        <p:xfrm>
          <a:off x="1218205" y="2959233"/>
          <a:ext cx="6707589" cy="2286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795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5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8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15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b="1" dirty="0"/>
                        <a:t>S. No</a:t>
                      </a:r>
                      <a:endParaRPr dirty="0"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b="1" dirty="0"/>
                        <a:t>Roll. No</a:t>
                      </a:r>
                      <a:endParaRPr dirty="0"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b="1" dirty="0"/>
                        <a:t>Student Name</a:t>
                      </a:r>
                      <a:endParaRPr dirty="0"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15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b="1"/>
                        <a:t>1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2000" b="1" dirty="0"/>
                        <a:t>22881A6620</a:t>
                      </a: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2000" b="1" dirty="0"/>
                        <a:t>D S </a:t>
                      </a:r>
                      <a:r>
                        <a:rPr lang="en-US" sz="2000" b="1" dirty="0" err="1"/>
                        <a:t>S</a:t>
                      </a:r>
                      <a:r>
                        <a:rPr lang="en-US" sz="2000" b="1" dirty="0"/>
                        <a:t> SARANYA</a:t>
                      </a: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15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b="1"/>
                        <a:t>2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2000" b="1" dirty="0"/>
                        <a:t>23885A6603</a:t>
                      </a: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2000" b="1" dirty="0"/>
                        <a:t>DARA ANIRUDH</a:t>
                      </a: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15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b="1" dirty="0"/>
                        <a:t>3</a:t>
                      </a:r>
                      <a:endParaRPr dirty="0"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2000" b="1" dirty="0"/>
                        <a:t>23885A6604</a:t>
                      </a: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lang="en-US" sz="2000" b="1" dirty="0"/>
                        <a:t>KOPPULA POOJA REDDY</a:t>
                      </a: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117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sz="2000" b="1" dirty="0"/>
                        <a:t>4</a:t>
                      </a:r>
                      <a:endParaRPr sz="2000" dirty="0"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/>
                        <a:t>23885A6606</a:t>
                      </a:r>
                      <a:endParaRPr lang="en-US" sz="2000" b="1" dirty="0"/>
                    </a:p>
                    <a:p>
                      <a:pPr>
                        <a:defRPr/>
                      </a:pPr>
                      <a:endParaRPr lang="en-US" sz="20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/>
                        <a:t>SHANIGARAM RAHUL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587623"/>
                  </a:ext>
                </a:extLst>
              </a:tr>
            </a:tbl>
          </a:graphicData>
        </a:graphic>
      </p:graphicFrame>
      <p:pic>
        <p:nvPicPr>
          <p:cNvPr id="2129010847" name="Picture 212901084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153400" y="221567"/>
            <a:ext cx="762000" cy="520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5D4E4B7-29F4-E005-D5FC-3ABC74A2B03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81670-BD16-6288-C62A-86D436FE854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Outline</a:t>
            </a:r>
            <a:endParaRPr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ADA76-1CFB-FD73-5947-7BA810DAC920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 Abstract</a:t>
            </a:r>
            <a:endParaRPr dirty="0">
              <a:solidFill>
                <a:schemeClr val="tx1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Introduction</a:t>
            </a:r>
            <a:endParaRPr dirty="0">
              <a:solidFill>
                <a:schemeClr val="tx1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Existing System</a:t>
            </a:r>
          </a:p>
          <a:p>
            <a:pPr>
              <a:lnSpc>
                <a:spcPct val="110000"/>
              </a:lnSpc>
              <a:spcBef>
                <a:spcPts val="1199"/>
              </a:spcBef>
              <a:spcAft>
                <a:spcPts val="0"/>
              </a:spcAft>
              <a:defRPr/>
            </a:pPr>
            <a:r>
              <a:rPr lang="en-IN" sz="25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Existing System Pros and Cons</a:t>
            </a:r>
            <a:endParaRPr lang="en-US" dirty="0">
              <a:solidFill>
                <a:schemeClr val="tx1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Proposed Model</a:t>
            </a:r>
            <a:endParaRPr lang="en-US" dirty="0">
              <a:solidFill>
                <a:schemeClr val="tx1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Specifications of the dataset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Proposed Model Results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Existing Model Vs Proposed Model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Sustainable Development Goals (SDGs)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Conclusion </a:t>
            </a:r>
          </a:p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5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Future Directions</a:t>
            </a:r>
            <a:endParaRPr lang="en-US" sz="2500" dirty="0">
              <a:solidFill>
                <a:schemeClr val="tx1"/>
              </a:solidFill>
              <a:latin typeface="Kalinga" panose="020B0502040204020203" pitchFamily="34" charset="0"/>
              <a:ea typeface="Cambria"/>
              <a:cs typeface="Kalinga" panose="020B0502040204020203" pitchFamily="34" charset="0"/>
            </a:endParaRPr>
          </a:p>
        </p:txBody>
      </p:sp>
      <p:sp>
        <p:nvSpPr>
          <p:cNvPr id="5125" name="Slide Number Placeholder 4">
            <a:extLst>
              <a:ext uri="{FF2B5EF4-FFF2-40B4-BE49-F238E27FC236}">
                <a16:creationId xmlns:a16="http://schemas.microsoft.com/office/drawing/2014/main" id="{95746C66-88A3-7A8D-1E06-E9E3AD716D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48794640-E00F-3143-842B-AC5CC465A4F0}" type="slidenum">
              <a:rPr lang="en-US">
                <a:solidFill>
                  <a:srgbClr val="898989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2</a:t>
            </a:fld>
            <a:endParaRPr lang="en-US">
              <a:solidFill>
                <a:srgbClr val="898989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pic>
        <p:nvPicPr>
          <p:cNvPr id="1146986375" name="Picture 1146986374">
            <a:extLst>
              <a:ext uri="{FF2B5EF4-FFF2-40B4-BE49-F238E27FC236}">
                <a16:creationId xmlns:a16="http://schemas.microsoft.com/office/drawing/2014/main" id="{BCF2E325-3B92-72DA-212F-EFA7A2D57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46232" y="103981"/>
            <a:ext cx="1269168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173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228600" y="254000"/>
            <a:ext cx="7391400" cy="639763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Abstract</a:t>
            </a:r>
            <a:endParaRPr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endParaRPr lang="en-US" sz="1900" b="1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Input</a:t>
            </a:r>
            <a:br>
              <a:rPr lang="en-US" sz="1900" dirty="0">
                <a:latin typeface="Kalinga" panose="020B0502040204020203" pitchFamily="34" charset="0"/>
                <a:cs typeface="Kalinga" panose="020B0502040204020203" pitchFamily="34" charset="0"/>
              </a:rPr>
            </a:b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Supports voice &amp; text inputs in English</a:t>
            </a: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Integrated Technologies</a:t>
            </a:r>
            <a:br>
              <a:rPr lang="en-US" sz="1900" dirty="0">
                <a:latin typeface="Kalinga" panose="020B0502040204020203" pitchFamily="34" charset="0"/>
                <a:cs typeface="Kalinga" panose="020B0502040204020203" pitchFamily="34" charset="0"/>
              </a:rPr>
            </a:b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Whisper, LLaMA3, Deep Translator, Text Blob, and </a:t>
            </a:r>
            <a:r>
              <a:rPr lang="en-US" sz="2000" dirty="0" err="1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gTTS</a:t>
            </a: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 combined</a:t>
            </a: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Output Modes</a:t>
            </a:r>
            <a:br>
              <a:rPr lang="en-US" sz="1900" dirty="0">
                <a:latin typeface="Kalinga" panose="020B0502040204020203" pitchFamily="34" charset="0"/>
                <a:cs typeface="Kalinga" panose="020B0502040204020203" pitchFamily="34" charset="0"/>
              </a:rPr>
            </a:b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Delivers multilingual text and speech responses</a:t>
            </a: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Accessibility Focus</a:t>
            </a:r>
            <a:br>
              <a:rPr lang="en-US" sz="1900" dirty="0">
                <a:latin typeface="Kalinga" panose="020B0502040204020203" pitchFamily="34" charset="0"/>
                <a:cs typeface="Kalinga" panose="020B0502040204020203" pitchFamily="34" charset="0"/>
              </a:rPr>
            </a:b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Designed for natural and inclusive communication</a:t>
            </a: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 marL="0" indent="0">
              <a:spcAft>
                <a:spcPts val="0"/>
              </a:spcAft>
              <a:buNone/>
              <a:defRPr/>
            </a:pPr>
            <a:endParaRPr lang="en-US" sz="2800"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7173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1FEE5103-700D-C248-920B-26408745AF96}" type="slidenum">
              <a:rPr lang="en-US">
                <a:solidFill>
                  <a:srgbClr val="898989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3</a:t>
            </a:fld>
            <a:endParaRPr lang="en-US">
              <a:solidFill>
                <a:srgbClr val="898989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pic>
        <p:nvPicPr>
          <p:cNvPr id="1355034836" name="Picture 135503483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703683" y="161924"/>
            <a:ext cx="1211717" cy="7318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228600" y="109093"/>
            <a:ext cx="7391400" cy="542137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Introduction</a:t>
            </a:r>
            <a:endParaRPr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214023" y="802616"/>
            <a:ext cx="8674608" cy="6000052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50000"/>
              </a:lnSpc>
            </a:pPr>
            <a:endParaRPr lang="en-US" sz="1900" b="1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Challenges</a:t>
            </a:r>
            <a:br>
              <a:rPr lang="en-US" sz="1900" dirty="0">
                <a:latin typeface="Kalinga" panose="020B0502040204020203" pitchFamily="34" charset="0"/>
                <a:cs typeface="Kalinga" panose="020B0502040204020203" pitchFamily="34" charset="0"/>
              </a:rPr>
            </a:b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Voice assistants lack multilingual and emotional understanding</a:t>
            </a: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User Preferences</a:t>
            </a:r>
            <a:br>
              <a:rPr lang="en-US" sz="1900" dirty="0">
                <a:latin typeface="Kalinga" panose="020B0502040204020203" pitchFamily="34" charset="0"/>
                <a:cs typeface="Kalinga" panose="020B0502040204020203" pitchFamily="34" charset="0"/>
              </a:rPr>
            </a:b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People want responses in their native languages</a:t>
            </a: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Our Goal</a:t>
            </a:r>
            <a:br>
              <a:rPr lang="en-US" sz="1900" dirty="0">
                <a:latin typeface="Kalinga" panose="020B0502040204020203" pitchFamily="34" charset="0"/>
                <a:cs typeface="Kalinga" panose="020B0502040204020203" pitchFamily="34" charset="0"/>
              </a:rPr>
            </a:b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Build intelligent, accessible, and natural AI for everyone</a:t>
            </a: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defRPr/>
            </a:pPr>
            <a:endParaRPr lang="en-US" sz="1600" dirty="0">
              <a:latin typeface="Kalinga" panose="020B0502040204020203" pitchFamily="34" charset="0"/>
              <a:ea typeface="Calibri" panose="020F0502020204030204" pitchFamily="34" charset="0"/>
              <a:cs typeface="Kalinga" panose="020B0502040204020203" pitchFamily="34" charset="0"/>
            </a:endParaRPr>
          </a:p>
          <a:p>
            <a:pPr marL="0" indent="0">
              <a:buNone/>
              <a:defRPr/>
            </a:pPr>
            <a:endParaRPr lang="en-US" sz="1600" dirty="0">
              <a:latin typeface="Kalinga" panose="020B0502040204020203" pitchFamily="34" charset="0"/>
              <a:ea typeface="Calibri" panose="020F0502020204030204" pitchFamily="34" charset="0"/>
              <a:cs typeface="Kalinga" panose="020B0502040204020203" pitchFamily="34" charset="0"/>
            </a:endParaRPr>
          </a:p>
          <a:p>
            <a:pPr>
              <a:defRPr/>
            </a:pPr>
            <a:endParaRPr lang="en-US" sz="1600" dirty="0">
              <a:latin typeface="Kalinga" panose="020B0502040204020203" pitchFamily="34" charset="0"/>
              <a:ea typeface="Calibri" panose="020F0502020204030204" pitchFamily="34" charset="0"/>
              <a:cs typeface="Kalinga" panose="020B0502040204020203" pitchFamily="34" charset="0"/>
            </a:endParaRPr>
          </a:p>
          <a:p>
            <a:pPr>
              <a:defRPr/>
            </a:pPr>
            <a:endParaRPr lang="en-US" sz="1600" dirty="0">
              <a:latin typeface="Kalinga" panose="020B0502040204020203" pitchFamily="34" charset="0"/>
              <a:ea typeface="Calibri" panose="020F0502020204030204" pitchFamily="34" charset="0"/>
              <a:cs typeface="Kalinga" panose="020B0502040204020203" pitchFamily="34" charset="0"/>
            </a:endParaRPr>
          </a:p>
          <a:p>
            <a:pPr>
              <a:defRPr/>
            </a:pPr>
            <a:endParaRPr lang="en-US" sz="1600" dirty="0">
              <a:latin typeface="Kalinga" panose="020B0502040204020203" pitchFamily="34" charset="0"/>
              <a:ea typeface="Calibri" panose="020F0502020204030204" pitchFamily="34" charset="0"/>
              <a:cs typeface="Kalinga" panose="020B0502040204020203" pitchFamily="34" charset="0"/>
            </a:endParaRPr>
          </a:p>
        </p:txBody>
      </p:sp>
      <p:sp>
        <p:nvSpPr>
          <p:cNvPr id="8197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07DA0EF8-0E81-7D49-BCA1-A831B702A60A}" type="slidenum">
              <a:rPr lang="en-US">
                <a:solidFill>
                  <a:srgbClr val="898989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4</a:t>
            </a:fld>
            <a:endParaRPr lang="en-US">
              <a:solidFill>
                <a:srgbClr val="898989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pic>
        <p:nvPicPr>
          <p:cNvPr id="1874052258" name="Picture 187405225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848600" y="97837"/>
            <a:ext cx="902208" cy="6022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9A673DB-7EFA-2DFD-EB9E-950050E1101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486C2-EABC-E833-C6FD-8FFEBF2ABC0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Existing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322E1-7DBD-2529-C0C3-B867450FC3AB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5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Kalinga" panose="020B0502040204020203" pitchFamily="34" charset="0"/>
                <a:cs typeface="Kalinga" panose="020B0502040204020203" pitchFamily="34" charset="0"/>
              </a:rPr>
              <a:t>Core Approach</a:t>
            </a: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BERT-based encoder</a:t>
            </a: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 detects intent and fills slots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b="1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Probability-Aware Gate (PAG)</a:t>
            </a: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 links intent to slots dynamically</a:t>
            </a: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Adjusts predictions using </a:t>
            </a:r>
            <a:r>
              <a:rPr lang="en-US" sz="2000" b="1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intent probability scores</a:t>
            </a: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Kalinga" panose="020B0502040204020203" pitchFamily="34" charset="0"/>
                <a:cs typeface="Kalinga" panose="020B0502040204020203" pitchFamily="34" charset="0"/>
              </a:rPr>
              <a:t> Limitations</a:t>
            </a: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Supports only text input</a:t>
            </a:r>
            <a:r>
              <a:rPr lang="en-US" sz="2000" dirty="0">
                <a:latin typeface="Kalinga" panose="020B0502040204020203" pitchFamily="34" charset="0"/>
                <a:cs typeface="Kalinga" panose="020B0502040204020203" pitchFamily="34" charset="0"/>
              </a:rPr>
              <a:t>.</a:t>
            </a:r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Lacks speech interface</a:t>
            </a: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No multilingual capabilities</a:t>
            </a: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 marL="0" indent="0">
              <a:buNone/>
            </a:pP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 marL="0" indent="0">
              <a:buNone/>
              <a:defRPr/>
            </a:pPr>
            <a:endParaRPr lang="en-US" sz="2000" i="0" u="none" strike="noStrike" cap="none" spc="0" dirty="0">
              <a:solidFill>
                <a:schemeClr val="tx1"/>
              </a:solidFill>
              <a:latin typeface="Kalinga" panose="020B0502040204020203" pitchFamily="34" charset="0"/>
              <a:ea typeface="Calibri" panose="020F0502020204030204" pitchFamily="34" charset="0"/>
              <a:cs typeface="Kalinga" panose="020B0502040204020203" pitchFamily="34" charset="0"/>
            </a:endParaRPr>
          </a:p>
        </p:txBody>
      </p:sp>
      <p:sp>
        <p:nvSpPr>
          <p:cNvPr id="8197" name="Slide Number Placeholder 4">
            <a:extLst>
              <a:ext uri="{FF2B5EF4-FFF2-40B4-BE49-F238E27FC236}">
                <a16:creationId xmlns:a16="http://schemas.microsoft.com/office/drawing/2014/main" id="{41E20649-9A04-34E1-2E5F-C393DB221B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07DA0EF8-0E81-7D49-BCA1-A831B702A60A}" type="slidenum">
              <a:rPr lang="en-US">
                <a:solidFill>
                  <a:srgbClr val="898989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5</a:t>
            </a:fld>
            <a:endParaRPr lang="en-US" dirty="0">
              <a:solidFill>
                <a:srgbClr val="898989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pic>
        <p:nvPicPr>
          <p:cNvPr id="1874052258" name="Picture 1874052257">
            <a:extLst>
              <a:ext uri="{FF2B5EF4-FFF2-40B4-BE49-F238E27FC236}">
                <a16:creationId xmlns:a16="http://schemas.microsoft.com/office/drawing/2014/main" id="{AC3F272D-B8FA-E114-10CB-3A7F58F4B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784022" y="192024"/>
            <a:ext cx="1119186" cy="747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625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IN" sz="28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Existing System Pros and Cons</a:t>
            </a:r>
            <a:endParaRPr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10245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7164A38F-66D0-3249-BDB1-19728BCC61CC}" type="slidenum">
              <a:rPr lang="en-US">
                <a:solidFill>
                  <a:srgbClr val="898989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6</a:t>
            </a:fld>
            <a:endParaRPr lang="en-US">
              <a:solidFill>
                <a:srgbClr val="898989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pic>
        <p:nvPicPr>
          <p:cNvPr id="1851264245" name="Picture 185126424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772400" y="228600"/>
            <a:ext cx="980482" cy="757919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4DDD8C7-4A49-2654-6119-C6096669F3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523169"/>
              </p:ext>
            </p:extLst>
          </p:nvPr>
        </p:nvGraphicFramePr>
        <p:xfrm>
          <a:off x="914400" y="1905000"/>
          <a:ext cx="6705600" cy="243839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3613036755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703686707"/>
                    </a:ext>
                  </a:extLst>
                </a:gridCol>
              </a:tblGrid>
              <a:tr h="388280">
                <a:tc>
                  <a:txBody>
                    <a:bodyPr/>
                    <a:lstStyle/>
                    <a:p>
                      <a:r>
                        <a:rPr lang="en-IN" sz="1900" b="1" dirty="0">
                          <a:latin typeface="Kalinga" panose="020B0502040204020203" pitchFamily="34" charset="0"/>
                          <a:cs typeface="Kalinga" panose="020B0502040204020203" pitchFamily="34" charset="0"/>
                        </a:rPr>
                        <a:t>Pros</a:t>
                      </a:r>
                      <a:endParaRPr lang="en-IN" sz="1900" dirty="0">
                        <a:latin typeface="Kalinga" panose="020B0502040204020203" pitchFamily="34" charset="0"/>
                        <a:cs typeface="Kalinga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900" b="1" dirty="0">
                          <a:latin typeface="Kalinga" panose="020B0502040204020203" pitchFamily="34" charset="0"/>
                          <a:cs typeface="Kalinga" panose="020B0502040204020203" pitchFamily="34" charset="0"/>
                        </a:rPr>
                        <a:t>Cons</a:t>
                      </a:r>
                      <a:endParaRPr lang="en-IN" sz="1900" dirty="0">
                        <a:latin typeface="Kalinga" panose="020B0502040204020203" pitchFamily="34" charset="0"/>
                        <a:cs typeface="Kalinga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2227075"/>
                  </a:ext>
                </a:extLst>
              </a:tr>
              <a:tr h="683373">
                <a:tc>
                  <a:txBody>
                    <a:bodyPr/>
                    <a:lstStyle/>
                    <a:p>
                      <a:pPr marL="0" marR="0" lvl="0" indent="0" algn="l" defTabSz="6858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900" dirty="0">
                          <a:latin typeface="Kalinga" panose="020B0502040204020203" pitchFamily="34" charset="0"/>
                          <a:cs typeface="Kalinga" panose="020B0502040204020203" pitchFamily="34" charset="0"/>
                        </a:rPr>
                        <a:t>Advanced intent-slot modelling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900" dirty="0">
                          <a:latin typeface="Kalinga" panose="020B0502040204020203" pitchFamily="34" charset="0"/>
                          <a:cs typeface="Kalinga" panose="020B0502040204020203" pitchFamily="34" charset="0"/>
                        </a:rPr>
                        <a:t>No voice input support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318002"/>
                  </a:ext>
                </a:extLst>
              </a:tr>
              <a:tr h="683373">
                <a:tc>
                  <a:txBody>
                    <a:bodyPr/>
                    <a:lstStyle/>
                    <a:p>
                      <a:r>
                        <a:rPr lang="en-IN" sz="1900" dirty="0">
                          <a:latin typeface="Kalinga" panose="020B0502040204020203" pitchFamily="34" charset="0"/>
                          <a:cs typeface="Kalinga" panose="020B0502040204020203" pitchFamily="34" charset="0"/>
                        </a:rPr>
                        <a:t>Accurate text understanding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6858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>
                          <a:latin typeface="Kalinga" panose="020B0502040204020203" pitchFamily="34" charset="0"/>
                          <a:cs typeface="Kalinga" panose="020B0502040204020203" pitchFamily="34" charset="0"/>
                        </a:rPr>
                        <a:t>Limited to single language 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8447684"/>
                  </a:ext>
                </a:extLst>
              </a:tr>
              <a:tr h="683373">
                <a:tc>
                  <a:txBody>
                    <a:bodyPr/>
                    <a:lstStyle/>
                    <a:p>
                      <a:r>
                        <a:rPr lang="en-IN" sz="1900" dirty="0">
                          <a:latin typeface="Kalinga" panose="020B0502040204020203" pitchFamily="34" charset="0"/>
                          <a:cs typeface="Kalinga" panose="020B0502040204020203" pitchFamily="34" charset="0"/>
                        </a:rPr>
                        <a:t>Improved intent-slot dependency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Kalinga" panose="020B0502040204020203" pitchFamily="34" charset="0"/>
                          <a:cs typeface="Kalinga" panose="020B0502040204020203" pitchFamily="34" charset="0"/>
                        </a:rPr>
                        <a:t>Doesn’t handle sentiment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07491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18251F8-F6B8-F75A-032B-E6CEB2EECC7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046E2-B060-C6A5-FFF3-6C436D28BFE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IN" sz="28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Proposed Model</a:t>
            </a:r>
            <a:endParaRPr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10245" name="Slide Number Placeholder 4">
            <a:extLst>
              <a:ext uri="{FF2B5EF4-FFF2-40B4-BE49-F238E27FC236}">
                <a16:creationId xmlns:a16="http://schemas.microsoft.com/office/drawing/2014/main" id="{EA72CEEC-2851-6AE5-8F82-AF9A156972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7164A38F-66D0-3249-BDB1-19728BCC61CC}" type="slidenum">
              <a:rPr lang="en-US">
                <a:solidFill>
                  <a:srgbClr val="898989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7</a:t>
            </a:fld>
            <a:endParaRPr lang="en-US" dirty="0">
              <a:solidFill>
                <a:srgbClr val="898989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pic>
        <p:nvPicPr>
          <p:cNvPr id="1851264245" name="Picture 1851264244">
            <a:extLst>
              <a:ext uri="{FF2B5EF4-FFF2-40B4-BE49-F238E27FC236}">
                <a16:creationId xmlns:a16="http://schemas.microsoft.com/office/drawing/2014/main" id="{0891F325-C926-D2BD-2618-2DB095471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772400" y="136525"/>
            <a:ext cx="966786" cy="83411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FF099C-46CE-7F81-8201-E9F4962EBCBF}"/>
              </a:ext>
            </a:extLst>
          </p:cNvPr>
          <p:cNvSpPr txBox="1">
            <a:spLocks/>
          </p:cNvSpPr>
          <p:nvPr/>
        </p:nvSpPr>
        <p:spPr bwMode="auto">
          <a:xfrm>
            <a:off x="180474" y="1032794"/>
            <a:ext cx="8763000" cy="5562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5000"/>
          </a:bodyPr>
          <a:lstStyle>
            <a:lvl1pPr marL="171450" indent="-171450" algn="l" defTabSz="685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Arial"/>
              <a:buChar char="•"/>
              <a:defRPr sz="2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Font typeface="Arial"/>
              <a:buChar char="•"/>
              <a:defRPr sz="15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Font typeface="Arial"/>
              <a:buChar char="•"/>
              <a:defRPr sz="1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Font typeface="Arial"/>
              <a:buChar char="•"/>
              <a:defRPr sz="1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en-US" sz="2000" b="1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2000" b="1" dirty="0">
                <a:latin typeface="Kalinga" panose="020B0502040204020203" pitchFamily="34" charset="0"/>
                <a:cs typeface="Kalinga" panose="020B0502040204020203" pitchFamily="34" charset="0"/>
              </a:rPr>
              <a:t>Voice and Text Input</a:t>
            </a:r>
          </a:p>
          <a:p>
            <a:pPr>
              <a:lnSpc>
                <a:spcPts val="2850"/>
              </a:lnSpc>
            </a:pP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Handles multiple languages with emotional and intent detection</a:t>
            </a: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US" sz="2000" b="1" dirty="0">
                <a:latin typeface="Kalinga" panose="020B0502040204020203" pitchFamily="34" charset="0"/>
                <a:cs typeface="Kalinga" panose="020B0502040204020203" pitchFamily="34" charset="0"/>
              </a:rPr>
              <a:t>Technology Integration</a:t>
            </a:r>
          </a:p>
          <a:p>
            <a:pPr>
              <a:lnSpc>
                <a:spcPts val="2850"/>
              </a:lnSpc>
            </a:pP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Combines Whisper, LLaMA3, translation, and text-to-speech modules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 sz="2000" b="1" dirty="0">
                <a:latin typeface="Kalinga" panose="020B0502040204020203" pitchFamily="34" charset="0"/>
                <a:cs typeface="Kalinga" panose="020B0502040204020203" pitchFamily="34" charset="0"/>
              </a:rPr>
              <a:t>User Experience</a:t>
            </a:r>
          </a:p>
          <a:p>
            <a:pPr>
              <a:lnSpc>
                <a:spcPts val="2850"/>
              </a:lnSpc>
            </a:pP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Natural, emotion-sensitive, and localized responses</a:t>
            </a: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94956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4532B63-AFA0-2FEF-0306-6521B232F30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422D2-E006-50B8-D28A-4EEA0C4CF47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IN" sz="28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Proposed Model Flow Diagram</a:t>
            </a:r>
            <a:endParaRPr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10245" name="Slide Number Placeholder 4">
            <a:extLst>
              <a:ext uri="{FF2B5EF4-FFF2-40B4-BE49-F238E27FC236}">
                <a16:creationId xmlns:a16="http://schemas.microsoft.com/office/drawing/2014/main" id="{48FD88FD-EB6B-7F77-3F2D-4826E171A5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7164A38F-66D0-3249-BDB1-19728BCC61CC}" type="slidenum">
              <a:rPr lang="en-US">
                <a:solidFill>
                  <a:srgbClr val="898989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8</a:t>
            </a:fld>
            <a:endParaRPr lang="en-US">
              <a:solidFill>
                <a:srgbClr val="898989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pic>
        <p:nvPicPr>
          <p:cNvPr id="1851264245" name="Picture 1851264244">
            <a:extLst>
              <a:ext uri="{FF2B5EF4-FFF2-40B4-BE49-F238E27FC236}">
                <a16:creationId xmlns:a16="http://schemas.microsoft.com/office/drawing/2014/main" id="{98264CA3-C28F-1D2D-3EBB-AE8231386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772400" y="136525"/>
            <a:ext cx="966786" cy="834119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A1A1BEC-44CC-8796-0371-9D4069E3BF5C}"/>
              </a:ext>
            </a:extLst>
          </p:cNvPr>
          <p:cNvSpPr txBox="1">
            <a:spLocks/>
          </p:cNvSpPr>
          <p:nvPr/>
        </p:nvSpPr>
        <p:spPr bwMode="auto">
          <a:xfrm>
            <a:off x="180474" y="1032794"/>
            <a:ext cx="8763000" cy="5562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 fontScale="95000"/>
          </a:bodyPr>
          <a:lstStyle>
            <a:lvl1pPr marL="171450" indent="-171450" algn="l" defTabSz="685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Arial"/>
              <a:buChar char="•"/>
              <a:defRPr sz="2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Font typeface="Arial"/>
              <a:buChar char="•"/>
              <a:defRPr sz="15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Font typeface="Arial"/>
              <a:buChar char="•"/>
              <a:defRPr sz="1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Font typeface="Arial"/>
              <a:buChar char="•"/>
              <a:defRPr sz="1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2000" dirty="0">
              <a:solidFill>
                <a:schemeClr val="tx1"/>
              </a:solidFill>
              <a:latin typeface="Kalinga" panose="020B0502040204020203" pitchFamily="34" charset="0"/>
              <a:ea typeface="Calibri" panose="020F0502020204030204" pitchFamily="34" charset="0"/>
              <a:cs typeface="Kalinga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D0F84E-A2E2-843A-296C-4F943FD7D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6051" y="1103078"/>
            <a:ext cx="2971800" cy="542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819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81B6855-5015-DAFF-4637-9B4CA0711B7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BBBD3-2054-9596-9FBF-9E0F69F8B88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Specifications of data set</a:t>
            </a:r>
            <a:endParaRPr lang="en-IN"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10245" name="Slide Number Placeholder 4">
            <a:extLst>
              <a:ext uri="{FF2B5EF4-FFF2-40B4-BE49-F238E27FC236}">
                <a16:creationId xmlns:a16="http://schemas.microsoft.com/office/drawing/2014/main" id="{3A2D37C6-6906-BC59-C4D4-FE730D62A3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7164A38F-66D0-3249-BDB1-19728BCC61CC}" type="slidenum">
              <a:rPr lang="en-US">
                <a:solidFill>
                  <a:srgbClr val="898989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9</a:t>
            </a:fld>
            <a:endParaRPr lang="en-US">
              <a:solidFill>
                <a:srgbClr val="898989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pic>
        <p:nvPicPr>
          <p:cNvPr id="1851264245" name="Picture 1851264244">
            <a:extLst>
              <a:ext uri="{FF2B5EF4-FFF2-40B4-BE49-F238E27FC236}">
                <a16:creationId xmlns:a16="http://schemas.microsoft.com/office/drawing/2014/main" id="{76DE3FBB-128A-27AC-A55F-8F6FDCF2E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772400" y="136525"/>
            <a:ext cx="966786" cy="83411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5C83C6E-9636-CB27-71E7-C4821F345F72}"/>
              </a:ext>
            </a:extLst>
          </p:cNvPr>
          <p:cNvSpPr txBox="1">
            <a:spLocks/>
          </p:cNvSpPr>
          <p:nvPr/>
        </p:nvSpPr>
        <p:spPr bwMode="auto">
          <a:xfrm>
            <a:off x="180474" y="1032794"/>
            <a:ext cx="8763000" cy="5562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171450" indent="-171450" algn="l" defTabSz="685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Arial"/>
              <a:buChar char="•"/>
              <a:defRPr sz="2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Font typeface="Arial"/>
              <a:buChar char="•"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Font typeface="Arial"/>
              <a:buChar char="•"/>
              <a:defRPr sz="15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Font typeface="Arial"/>
              <a:buChar char="•"/>
              <a:defRPr sz="1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Font typeface="Arial"/>
              <a:buChar char="•"/>
              <a:defRPr sz="13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None/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Dataset Size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Kalinga" panose="020B0502040204020203" pitchFamily="34" charset="0"/>
                <a:cs typeface="Kalinga" panose="020B0502040204020203" pitchFamily="34" charset="0"/>
              </a:rPr>
              <a:t>80,000 User Interaction Instances</a:t>
            </a:r>
          </a:p>
          <a:p>
            <a:pPr>
              <a:lnSpc>
                <a:spcPct val="150000"/>
              </a:lnSpc>
              <a:buNone/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Data Details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Kalinga" panose="020B0502040204020203" pitchFamily="34" charset="0"/>
                <a:cs typeface="Kalinga" panose="020B0502040204020203" pitchFamily="34" charset="0"/>
              </a:rPr>
              <a:t>User Sentence Input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Kalinga" panose="020B0502040204020203" pitchFamily="34" charset="0"/>
                <a:cs typeface="Kalinga" panose="020B0502040204020203" pitchFamily="34" charset="0"/>
              </a:rPr>
              <a:t>Intent Labels </a:t>
            </a: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(complaint, inquiry, request)</a:t>
            </a:r>
            <a:endParaRPr lang="en-US" sz="19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Kalinga" panose="020B0502040204020203" pitchFamily="34" charset="0"/>
                <a:cs typeface="Kalinga" panose="020B0502040204020203" pitchFamily="34" charset="0"/>
              </a:rPr>
              <a:t>Sentiment Labels: </a:t>
            </a: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(positive, neutral, negative)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Benefits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2A2742"/>
                </a:solidFill>
                <a:latin typeface="Kalinga" panose="020B0502040204020203" pitchFamily="34" charset="0"/>
                <a:ea typeface="Arimo" pitchFamily="34" charset="-122"/>
                <a:cs typeface="Kalinga" panose="020B0502040204020203" pitchFamily="34" charset="0"/>
              </a:rPr>
              <a:t>Enables context-aware, emotion-sensitive AI responses</a:t>
            </a: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398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E5B89C3-2328-7DA9-89AF-C9C58F826BB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5B736-E9F2-6521-A0FF-0E622A36FB2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IN" sz="28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Proposed model results</a:t>
            </a:r>
            <a:endParaRPr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10245" name="Slide Number Placeholder 4">
            <a:extLst>
              <a:ext uri="{FF2B5EF4-FFF2-40B4-BE49-F238E27FC236}">
                <a16:creationId xmlns:a16="http://schemas.microsoft.com/office/drawing/2014/main" id="{362A8CB3-F5B1-D352-6063-2CBF6ABD2A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7164A38F-66D0-3249-BDB1-19728BCC61CC}" type="slidenum">
              <a:rPr lang="en-US">
                <a:solidFill>
                  <a:srgbClr val="898989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10</a:t>
            </a:fld>
            <a:endParaRPr lang="en-US">
              <a:solidFill>
                <a:srgbClr val="898989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pic>
        <p:nvPicPr>
          <p:cNvPr id="1851264245" name="Picture 1851264244">
            <a:extLst>
              <a:ext uri="{FF2B5EF4-FFF2-40B4-BE49-F238E27FC236}">
                <a16:creationId xmlns:a16="http://schemas.microsoft.com/office/drawing/2014/main" id="{3E49E8D7-A7E9-1281-B8CC-7233181DE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772400" y="136525"/>
            <a:ext cx="966786" cy="8341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AF8FFC-1A9C-54D0-13E5-FB7DB80CD1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581" y="1115423"/>
            <a:ext cx="4465605" cy="52409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8415058-A6A1-305F-4C97-5F12C70AC4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94" y="1115423"/>
            <a:ext cx="3813062" cy="528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628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8505D-3BC6-6108-BAA2-2AA2133E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922116-F8A8-A244-9026-EC4C3B96A0B2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38C34C7-65DA-82F0-9C06-BF06D3C1F8E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IN" sz="28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Proposed model results</a:t>
            </a:r>
            <a:endParaRPr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DE39AD-F743-EA06-2DA8-29D2ECD8A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772400" y="136525"/>
            <a:ext cx="966786" cy="83411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1FD9C43-7313-B017-E757-D80AD281AE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013225"/>
            <a:ext cx="3637196" cy="559111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F9BF202-45D6-BC19-EA4E-82FCEB0F44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78" y="1013225"/>
            <a:ext cx="3197322" cy="5570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4959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FD0D5-36A7-234D-2061-074BF577E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79CE2-C661-126E-4D2D-981213DE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922116-F8A8-A244-9026-EC4C3B96A0B2}" type="slidenum">
              <a:rPr lang="en-US" smtClean="0"/>
              <a:t>12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C1DF699-CAC7-0E75-5554-5C32913895F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IN" sz="28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Proposed model results</a:t>
            </a:r>
            <a:endParaRPr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0E465A-7F4C-337F-1869-1395C857F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772400" y="136525"/>
            <a:ext cx="966786" cy="83411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F83E1B-6F14-FE88-199A-634CADB628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23327"/>
            <a:ext cx="4322527" cy="52647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7AE6820-BA67-F6D4-91C9-EAACFE2470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173" y="1200467"/>
            <a:ext cx="3181683" cy="5264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222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6FA9568-7730-BA4A-50F8-069D2A161C1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618A6-9366-56C0-2A97-BD3C7DECF1D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8600" y="274638"/>
            <a:ext cx="7391400" cy="83411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Existing Model Vs Proposed Model</a:t>
            </a:r>
            <a:endParaRPr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10245" name="Slide Number Placeholder 4">
            <a:extLst>
              <a:ext uri="{FF2B5EF4-FFF2-40B4-BE49-F238E27FC236}">
                <a16:creationId xmlns:a16="http://schemas.microsoft.com/office/drawing/2014/main" id="{01A7B384-553F-6C1A-ACB5-E729154057C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7164A38F-66D0-3249-BDB1-19728BCC61CC}" type="slidenum">
              <a:rPr lang="en-US">
                <a:solidFill>
                  <a:srgbClr val="898989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13</a:t>
            </a:fld>
            <a:endParaRPr lang="en-US">
              <a:solidFill>
                <a:srgbClr val="898989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pic>
        <p:nvPicPr>
          <p:cNvPr id="1851264245" name="Picture 1851264244">
            <a:extLst>
              <a:ext uri="{FF2B5EF4-FFF2-40B4-BE49-F238E27FC236}">
                <a16:creationId xmlns:a16="http://schemas.microsoft.com/office/drawing/2014/main" id="{31502A31-F63F-FED3-4270-0060DE8FA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772400" y="136525"/>
            <a:ext cx="966786" cy="834119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B476F1-AB7C-DE63-67F3-D64CF9B6D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816872"/>
              </p:ext>
            </p:extLst>
          </p:nvPr>
        </p:nvGraphicFramePr>
        <p:xfrm>
          <a:off x="659923" y="1778000"/>
          <a:ext cx="7824153" cy="29667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2893673967"/>
                    </a:ext>
                  </a:extLst>
                </a:gridCol>
                <a:gridCol w="2181860">
                  <a:extLst>
                    <a:ext uri="{9D8B030D-6E8A-4147-A177-3AD203B41FA5}">
                      <a16:colId xmlns:a16="http://schemas.microsoft.com/office/drawing/2014/main" val="3971095556"/>
                    </a:ext>
                  </a:extLst>
                </a:gridCol>
                <a:gridCol w="3457893">
                  <a:extLst>
                    <a:ext uri="{9D8B030D-6E8A-4147-A177-3AD203B41FA5}">
                      <a16:colId xmlns:a16="http://schemas.microsoft.com/office/drawing/2014/main" val="2736650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Kalinga" panose="020B0502040204020203" pitchFamily="34" charset="0"/>
                          <a:cs typeface="Kalinga" panose="020B0502040204020203" pitchFamily="34" charset="0"/>
                        </a:rPr>
                        <a:t>Aspect</a:t>
                      </a:r>
                      <a:endParaRPr lang="en-IN" sz="1500" dirty="0">
                        <a:latin typeface="Kalinga" panose="020B0502040204020203" pitchFamily="34" charset="0"/>
                        <a:cs typeface="Kalinga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Kalinga" panose="020B0502040204020203" pitchFamily="34" charset="0"/>
                          <a:cs typeface="Kalinga" panose="020B0502040204020203" pitchFamily="34" charset="0"/>
                        </a:rPr>
                        <a:t>Existing Model</a:t>
                      </a:r>
                      <a:endParaRPr lang="en-IN" sz="1500" dirty="0">
                        <a:latin typeface="Kalinga" panose="020B0502040204020203" pitchFamily="34" charset="0"/>
                        <a:cs typeface="Kalinga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latin typeface="Kalinga" panose="020B0502040204020203" pitchFamily="34" charset="0"/>
                          <a:cs typeface="Kalinga" panose="020B0502040204020203" pitchFamily="34" charset="0"/>
                        </a:rPr>
                        <a:t>Proposed Model</a:t>
                      </a:r>
                      <a:endParaRPr lang="en-IN" sz="1500" dirty="0">
                        <a:latin typeface="Kalinga" panose="020B0502040204020203" pitchFamily="34" charset="0"/>
                        <a:cs typeface="Kalinga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0754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50" dirty="0">
                          <a:latin typeface="Kalinga" panose="020B0502040204020203" pitchFamily="34" charset="0"/>
                          <a:cs typeface="Kalinga" panose="020B0502040204020203" pitchFamily="34" charset="0"/>
                        </a:rPr>
                        <a:t>Input Type</a:t>
                      </a:r>
                      <a:endParaRPr lang="en-IN" sz="1450" dirty="0">
                        <a:latin typeface="Kalinga" panose="020B0502040204020203" pitchFamily="34" charset="0"/>
                        <a:cs typeface="Kalinga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 only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 and Speech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1632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Language Support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English only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Multilingual (English, Telugu, Hindi, and Tamil)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600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Architecture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50" dirty="0">
                          <a:latin typeface="Kalinga" panose="020B0502040204020203" pitchFamily="34" charset="0"/>
                          <a:cs typeface="Kalinga" panose="020B0502040204020203" pitchFamily="34" charset="0"/>
                        </a:rPr>
                        <a:t>BERT + PAGM</a:t>
                      </a:r>
                      <a:endParaRPr lang="en-IN" sz="1450" dirty="0">
                        <a:latin typeface="Kalinga" panose="020B0502040204020203" pitchFamily="34" charset="0"/>
                        <a:cs typeface="Kalinga" panose="020B05020402040202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Whisper + LLaMA3 + </a:t>
                      </a:r>
                      <a:r>
                        <a:rPr lang="en-US" dirty="0" err="1"/>
                        <a:t>gTTS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094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Intent Detection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(with higher accuracy)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584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Sentiment Analysis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 (Content-Aware)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358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Output Format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 + Multilingual Audio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536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Real-Time Interaction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Supported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951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273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228600" y="136525"/>
            <a:ext cx="7391400" cy="777875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Sustainable Development Goals (SDGs)</a:t>
            </a:r>
            <a:endParaRPr lang="en-US" sz="2800" dirty="0">
              <a:solidFill>
                <a:schemeClr val="tx1"/>
              </a:solidFill>
              <a:latin typeface="Kalinga" panose="020B0502040204020203" pitchFamily="34" charset="0"/>
              <a:ea typeface="Cambria"/>
              <a:cs typeface="Kalinga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spcAft>
                <a:spcPts val="0"/>
              </a:spcAft>
              <a:defRPr/>
            </a:pPr>
            <a:endParaRPr lang="en-US" sz="28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buNone/>
            </a:pPr>
            <a:r>
              <a:rPr lang="en-US" sz="1600" b="1" dirty="0"/>
              <a:t>                        </a:t>
            </a:r>
            <a:endParaRPr lang="en-US" sz="1600" dirty="0"/>
          </a:p>
        </p:txBody>
      </p:sp>
      <p:sp>
        <p:nvSpPr>
          <p:cNvPr id="13317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2E98BD84-CE13-3A4E-A584-364A90364486}" type="slidenum">
              <a:rPr lang="en-US">
                <a:solidFill>
                  <a:srgbClr val="898989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14</a:t>
            </a:fld>
            <a:endParaRPr lang="en-US" dirty="0">
              <a:solidFill>
                <a:srgbClr val="898989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pic>
        <p:nvPicPr>
          <p:cNvPr id="560990168" name="Picture 56099016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801500" y="174229"/>
            <a:ext cx="1190100" cy="9199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35088C-4B30-061E-0BA8-B3B9A3457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999" y="1171648"/>
            <a:ext cx="1446799" cy="14191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A6A811-F6AA-FCE3-8084-9F9499051A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002943"/>
            <a:ext cx="1380742" cy="13987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4F55CE-7C46-9381-5113-A7DAC831A8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4769468"/>
            <a:ext cx="1380742" cy="135418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810585E-F0B8-A07E-D957-96493268ACB6}"/>
              </a:ext>
            </a:extLst>
          </p:cNvPr>
          <p:cNvSpPr txBox="1"/>
          <p:nvPr/>
        </p:nvSpPr>
        <p:spPr>
          <a:xfrm>
            <a:off x="1981200" y="1171648"/>
            <a:ext cx="6934200" cy="1685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SDG 3: Good Health and Well-being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Enhances Healthcare Communication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Improved Patient Engagement</a:t>
            </a:r>
            <a:endParaRPr lang="en-US" sz="19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endParaRPr lang="en-IN"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E994EF-42AA-115A-4521-BB2FB3B24533}"/>
              </a:ext>
            </a:extLst>
          </p:cNvPr>
          <p:cNvSpPr txBox="1"/>
          <p:nvPr/>
        </p:nvSpPr>
        <p:spPr bwMode="auto">
          <a:xfrm>
            <a:off x="2133600" y="3155342"/>
            <a:ext cx="6324600" cy="12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2FDC38-3122-E089-8CA4-4DC2D5D405EB}"/>
              </a:ext>
            </a:extLst>
          </p:cNvPr>
          <p:cNvSpPr txBox="1"/>
          <p:nvPr/>
        </p:nvSpPr>
        <p:spPr bwMode="auto">
          <a:xfrm>
            <a:off x="1947671" y="2977194"/>
            <a:ext cx="6324600" cy="1371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SDG 4: Quality Education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Accessible Education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Personalized Learning</a:t>
            </a:r>
            <a:endParaRPr lang="en-IN" sz="19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DBBAE1-679E-2A6D-F904-96E9ED4DDAE3}"/>
              </a:ext>
            </a:extLst>
          </p:cNvPr>
          <p:cNvSpPr txBox="1"/>
          <p:nvPr/>
        </p:nvSpPr>
        <p:spPr>
          <a:xfrm>
            <a:off x="1988981" y="4876800"/>
            <a:ext cx="6164419" cy="932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SDG 9: Industry, Innovation, and Infrastructure</a:t>
            </a:r>
            <a:endParaRPr lang="en-US" sz="19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Kalinga" panose="020B0502040204020203" pitchFamily="34" charset="0"/>
                <a:cs typeface="Kalinga" panose="020B0502040204020203" pitchFamily="34" charset="0"/>
              </a:rPr>
              <a:t>Blending AI with User-Friendly Design</a:t>
            </a:r>
            <a:endParaRPr lang="en-IN" sz="1900" dirty="0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96F4D27-10A5-EA90-6642-F81675A50E9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D7A38-BF0A-CFFB-2BF8-8769C08CC4D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Conclusion</a:t>
            </a:r>
            <a:endParaRPr lang="en-US" sz="2800" dirty="0">
              <a:solidFill>
                <a:schemeClr val="tx1"/>
              </a:solidFill>
              <a:latin typeface="Kalinga" panose="020B0502040204020203" pitchFamily="34" charset="0"/>
              <a:ea typeface="Cambria"/>
              <a:cs typeface="Kalinga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AA62C-7CDF-BCA2-428F-62872D3FC065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  <a:defRPr/>
            </a:pP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2000" dirty="0">
                <a:latin typeface="Kalinga" panose="020B0502040204020203" pitchFamily="34" charset="0"/>
                <a:cs typeface="Kalinga" panose="020B0502040204020203" pitchFamily="34" charset="0"/>
              </a:rPr>
              <a:t>Understands intent and sentiment in user input.</a:t>
            </a:r>
          </a:p>
          <a:p>
            <a:pPr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2000" dirty="0">
                <a:latin typeface="Kalinga" panose="020B0502040204020203" pitchFamily="34" charset="0"/>
                <a:cs typeface="Kalinga" panose="020B0502040204020203" pitchFamily="34" charset="0"/>
              </a:rPr>
              <a:t>Supports multilingual Indian languages for wider reach.</a:t>
            </a:r>
          </a:p>
          <a:p>
            <a:pPr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2000" dirty="0">
                <a:latin typeface="Kalinga" panose="020B0502040204020203" pitchFamily="34" charset="0"/>
                <a:cs typeface="Kalinga" panose="020B0502040204020203" pitchFamily="34" charset="0"/>
              </a:rPr>
              <a:t>Provides text and speech outputs for enhanced accessibility.</a:t>
            </a:r>
          </a:p>
          <a:p>
            <a:pPr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2000" dirty="0">
                <a:latin typeface="Kalinga" panose="020B0502040204020203" pitchFamily="34" charset="0"/>
                <a:cs typeface="Kalinga" panose="020B0502040204020203" pitchFamily="34" charset="0"/>
              </a:rPr>
              <a:t>Helps make communication with AI more natural and inclusive elaborate a little and language simple</a:t>
            </a:r>
          </a:p>
        </p:txBody>
      </p:sp>
      <p:sp>
        <p:nvSpPr>
          <p:cNvPr id="13317" name="Slide Number Placeholder 4">
            <a:extLst>
              <a:ext uri="{FF2B5EF4-FFF2-40B4-BE49-F238E27FC236}">
                <a16:creationId xmlns:a16="http://schemas.microsoft.com/office/drawing/2014/main" id="{49BA218F-0FF7-8F7D-8518-24E1317527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2E98BD84-CE13-3A4E-A584-364A90364486}" type="slidenum">
              <a:rPr lang="en-US">
                <a:solidFill>
                  <a:srgbClr val="898989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15</a:t>
            </a:fld>
            <a:endParaRPr lang="en-US">
              <a:solidFill>
                <a:srgbClr val="898989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pic>
        <p:nvPicPr>
          <p:cNvPr id="560990168" name="Picture 560990167">
            <a:extLst>
              <a:ext uri="{FF2B5EF4-FFF2-40B4-BE49-F238E27FC236}">
                <a16:creationId xmlns:a16="http://schemas.microsoft.com/office/drawing/2014/main" id="{9ACC4611-F646-BE76-F87E-353C2EDED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801500" y="174229"/>
            <a:ext cx="1190100" cy="91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425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8ABC8B6-8258-3311-F7C4-4C5070BD323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642FA-010F-F07E-A371-063DEE98470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228600" y="274638"/>
            <a:ext cx="7391400" cy="639762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tx1"/>
                </a:solidFill>
                <a:latin typeface="Kalinga" panose="020B0502040204020203" pitchFamily="34" charset="0"/>
                <a:ea typeface="Cambria"/>
                <a:cs typeface="Kalinga" panose="020B0502040204020203" pitchFamily="34" charset="0"/>
              </a:rPr>
              <a:t> Future directions</a:t>
            </a:r>
            <a:endParaRPr lang="en-US" sz="2800" dirty="0">
              <a:solidFill>
                <a:schemeClr val="tx1"/>
              </a:solidFill>
              <a:latin typeface="Kalinga" panose="020B0502040204020203" pitchFamily="34" charset="0"/>
              <a:ea typeface="Cambria"/>
              <a:cs typeface="Kalinga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D292A-26A6-87C9-F37C-207B5ED2A187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>
              <a:spcAft>
                <a:spcPts val="0"/>
              </a:spcAft>
              <a:defRPr/>
            </a:pPr>
            <a:endParaRPr lang="en-US" sz="2000" dirty="0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en-US" sz="2000" dirty="0">
                <a:latin typeface="Kalinga" panose="020B0502040204020203" pitchFamily="34" charset="0"/>
                <a:cs typeface="Kalinga" panose="020B0502040204020203" pitchFamily="34" charset="0"/>
              </a:rPr>
              <a:t> </a:t>
            </a:r>
            <a:r>
              <a:rPr lang="en-US" sz="2000" b="1" dirty="0">
                <a:latin typeface="Kalinga" panose="020B0502040204020203" pitchFamily="34" charset="0"/>
                <a:cs typeface="Kalinga" panose="020B0502040204020203" pitchFamily="34" charset="0"/>
              </a:rPr>
              <a:t>Emotional Intelligence: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2000" dirty="0">
                <a:latin typeface="Kalinga" panose="020B0502040204020203" pitchFamily="34" charset="0"/>
                <a:cs typeface="Kalinga" panose="020B0502040204020203" pitchFamily="34" charset="0"/>
              </a:rPr>
              <a:t>Detect stress, sarcasm, or excitement using voice analysis + ML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en-US" sz="2000" dirty="0">
                <a:latin typeface="Kalinga" panose="020B0502040204020203" pitchFamily="34" charset="0"/>
                <a:cs typeface="Kalinga" panose="020B0502040204020203" pitchFamily="34" charset="0"/>
              </a:rPr>
              <a:t> </a:t>
            </a:r>
            <a:r>
              <a:rPr lang="en-US" sz="2000" b="1" dirty="0">
                <a:latin typeface="Kalinga" panose="020B0502040204020203" pitchFamily="34" charset="0"/>
                <a:cs typeface="Kalinga" panose="020B0502040204020203" pitchFamily="34" charset="0"/>
              </a:rPr>
              <a:t>Conversation Memory: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2000" dirty="0">
                <a:latin typeface="Kalinga" panose="020B0502040204020203" pitchFamily="34" charset="0"/>
                <a:cs typeface="Kalinga" panose="020B0502040204020203" pitchFamily="34" charset="0"/>
              </a:rPr>
              <a:t>Recall past chats for context-aware responses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en-US" sz="2000" b="1" dirty="0">
                <a:latin typeface="Kalinga" panose="020B0502040204020203" pitchFamily="34" charset="0"/>
                <a:cs typeface="Kalinga" panose="020B0502040204020203" pitchFamily="34" charset="0"/>
              </a:rPr>
              <a:t> Mobile App Integration: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2000" dirty="0">
                <a:latin typeface="Kalinga" panose="020B0502040204020203" pitchFamily="34" charset="0"/>
                <a:cs typeface="Kalinga" panose="020B0502040204020203" pitchFamily="34" charset="0"/>
              </a:rPr>
              <a:t>Access </a:t>
            </a:r>
            <a:r>
              <a:rPr lang="en-US" sz="2000" dirty="0" err="1">
                <a:latin typeface="Kalinga" panose="020B0502040204020203" pitchFamily="34" charset="0"/>
                <a:cs typeface="Kalinga" panose="020B0502040204020203" pitchFamily="34" charset="0"/>
              </a:rPr>
              <a:t>TalkGenie</a:t>
            </a:r>
            <a:r>
              <a:rPr lang="en-US" sz="2000" dirty="0">
                <a:latin typeface="Kalinga" panose="020B0502040204020203" pitchFamily="34" charset="0"/>
                <a:cs typeface="Kalinga" panose="020B0502040204020203" pitchFamily="34" charset="0"/>
              </a:rPr>
              <a:t> anytime, anywhere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en-US" sz="2000" b="1" dirty="0">
                <a:latin typeface="Kalinga" panose="020B0502040204020203" pitchFamily="34" charset="0"/>
                <a:cs typeface="Kalinga" panose="020B0502040204020203" pitchFamily="34" charset="0"/>
              </a:rPr>
              <a:t>Offline Mode: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2000" dirty="0">
                <a:latin typeface="Kalinga" panose="020B0502040204020203" pitchFamily="34" charset="0"/>
                <a:cs typeface="Kalinga" panose="020B0502040204020203" pitchFamily="34" charset="0"/>
              </a:rPr>
              <a:t>Use in low or no internet environments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en-US" sz="2000" b="1" dirty="0">
                <a:latin typeface="Kalinga" panose="020B0502040204020203" pitchFamily="34" charset="0"/>
                <a:cs typeface="Kalinga" panose="020B0502040204020203" pitchFamily="34" charset="0"/>
              </a:rPr>
              <a:t>Multilingual Input: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2000" dirty="0">
                <a:latin typeface="Kalinga" panose="020B0502040204020203" pitchFamily="34" charset="0"/>
                <a:cs typeface="Kalinga" panose="020B0502040204020203" pitchFamily="34" charset="0"/>
              </a:rPr>
              <a:t>Direct queries in native languages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  <a:defRPr/>
            </a:pPr>
            <a:r>
              <a:rPr lang="en-US" sz="2000" dirty="0">
                <a:latin typeface="Kalinga" panose="020B0502040204020203" pitchFamily="34" charset="0"/>
                <a:cs typeface="Kalinga" panose="020B0502040204020203" pitchFamily="34" charset="0"/>
              </a:rPr>
              <a:t> </a:t>
            </a:r>
            <a:r>
              <a:rPr lang="en-US" sz="2000" b="1" dirty="0">
                <a:latin typeface="Kalinga" panose="020B0502040204020203" pitchFamily="34" charset="0"/>
                <a:cs typeface="Kalinga" panose="020B0502040204020203" pitchFamily="34" charset="0"/>
              </a:rPr>
              <a:t>File &amp; Image Analysis:</a:t>
            </a:r>
          </a:p>
          <a:p>
            <a:pPr>
              <a:lnSpc>
                <a:spcPct val="100000"/>
              </a:lnSpc>
              <a:spcAft>
                <a:spcPts val="0"/>
              </a:spcAft>
              <a:defRPr/>
            </a:pPr>
            <a:r>
              <a:rPr lang="en-US" sz="2000" dirty="0">
                <a:latin typeface="Kalinga" panose="020B0502040204020203" pitchFamily="34" charset="0"/>
                <a:cs typeface="Kalinga" panose="020B0502040204020203" pitchFamily="34" charset="0"/>
              </a:rPr>
              <a:t>Process documents for summaries or recognize content using AI</a:t>
            </a:r>
          </a:p>
        </p:txBody>
      </p:sp>
      <p:sp>
        <p:nvSpPr>
          <p:cNvPr id="13317" name="Slide Number Placeholder 4">
            <a:extLst>
              <a:ext uri="{FF2B5EF4-FFF2-40B4-BE49-F238E27FC236}">
                <a16:creationId xmlns:a16="http://schemas.microsoft.com/office/drawing/2014/main" id="{E4CD9D8A-74ED-F40D-F8BB-4FF12D909A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2E98BD84-CE13-3A4E-A584-364A90364486}" type="slidenum">
              <a:rPr lang="en-US">
                <a:solidFill>
                  <a:srgbClr val="898989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16</a:t>
            </a:fld>
            <a:endParaRPr lang="en-US">
              <a:solidFill>
                <a:srgbClr val="898989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pic>
        <p:nvPicPr>
          <p:cNvPr id="560990168" name="Picture 560990167">
            <a:extLst>
              <a:ext uri="{FF2B5EF4-FFF2-40B4-BE49-F238E27FC236}">
                <a16:creationId xmlns:a16="http://schemas.microsoft.com/office/drawing/2014/main" id="{3DDF6499-1FBB-A71C-86A9-CC1DA7122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801500" y="174229"/>
            <a:ext cx="1190100" cy="91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32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228600" y="1066800"/>
            <a:ext cx="8763000" cy="5562600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514350" indent="-514350">
              <a:spcAft>
                <a:spcPts val="0"/>
              </a:spcAft>
              <a:buFont typeface="Arial"/>
              <a:buNone/>
              <a:defRPr/>
            </a:pPr>
            <a:endParaRPr lang="en-US" sz="3600" b="1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 marL="514350" indent="-514350">
              <a:spcAft>
                <a:spcPts val="0"/>
              </a:spcAft>
              <a:buFont typeface="Arial"/>
              <a:buNone/>
              <a:defRPr/>
            </a:pPr>
            <a:endParaRPr lang="en-US" sz="2800" b="1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 marL="514350" indent="-514350">
              <a:spcAft>
                <a:spcPts val="0"/>
              </a:spcAft>
              <a:buFont typeface="Arial"/>
              <a:buNone/>
              <a:defRPr/>
            </a:pPr>
            <a:endParaRPr lang="en-US" sz="2800" b="1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 marL="514350" indent="-514350" algn="ctr">
              <a:spcAft>
                <a:spcPts val="0"/>
              </a:spcAft>
              <a:buFont typeface="Arial"/>
              <a:buNone/>
              <a:defRPr/>
            </a:pPr>
            <a:endParaRPr lang="en-US" b="1">
              <a:latin typeface="Kalinga" panose="020B0502040204020203" pitchFamily="34" charset="0"/>
              <a:cs typeface="Kalinga" panose="020B0502040204020203" pitchFamily="34" charset="0"/>
            </a:endParaRPr>
          </a:p>
          <a:p>
            <a:pPr marL="514350" indent="-514350">
              <a:spcAft>
                <a:spcPts val="0"/>
              </a:spcAft>
              <a:buFont typeface="Arial"/>
              <a:buNone/>
              <a:defRPr/>
            </a:pPr>
            <a:endParaRPr lang="en-US" sz="2800" b="1"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sp>
        <p:nvSpPr>
          <p:cNvPr id="14340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defRPr>
                <a:solidFill>
                  <a:schemeClr val="tx1"/>
                </a:solidFill>
                <a:latin typeface="Calibri"/>
              </a:defRPr>
            </a:lvl9pPr>
          </a:lstStyle>
          <a:p>
            <a:pPr>
              <a:spcBef>
                <a:spcPts val="0"/>
              </a:spcBef>
              <a:spcAft>
                <a:spcPts val="0"/>
              </a:spcAft>
              <a:defRPr/>
            </a:pPr>
            <a:fld id="{ABEDEFEE-79E3-4247-B13F-BA9161CED57F}" type="slidenum">
              <a:rPr lang="en-US">
                <a:solidFill>
                  <a:srgbClr val="898989"/>
                </a:solidFill>
                <a:latin typeface="Kalinga" panose="020B0502040204020203" pitchFamily="34" charset="0"/>
                <a:cs typeface="Kalinga" panose="020B0502040204020203" pitchFamily="34" charset="0"/>
              </a:rPr>
              <a:t>17</a:t>
            </a:fld>
            <a:endParaRPr lang="en-US">
              <a:solidFill>
                <a:srgbClr val="898989"/>
              </a:solidFill>
              <a:latin typeface="Kalinga" panose="020B0502040204020203" pitchFamily="34" charset="0"/>
              <a:cs typeface="Kalinga" panose="020B0502040204020203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447800" y="1752599"/>
            <a:ext cx="6330013" cy="35668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39F969-D8C3-63DB-2294-EF7FF9526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000500" y="159900"/>
            <a:ext cx="1219200" cy="83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550</TotalTime>
  <Words>608</Words>
  <Application>Microsoft Office PowerPoint</Application>
  <PresentationFormat>On-screen Show (4:3)</PresentationFormat>
  <Paragraphs>177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Bahamas</vt:lpstr>
      <vt:lpstr>Calibri</vt:lpstr>
      <vt:lpstr>Calibri Light</vt:lpstr>
      <vt:lpstr>Kalinga</vt:lpstr>
      <vt:lpstr>Office Theme</vt:lpstr>
      <vt:lpstr>   VARDHAMAN COLLEGE OF ENGINEERING, HYDERABAD Autonomous institute affiliated to JNTUH  DEPARTMENT OF CSE(AI&amp;ML) Mini Project (A8041)</vt:lpstr>
      <vt:lpstr>Outline</vt:lpstr>
      <vt:lpstr>Abstract</vt:lpstr>
      <vt:lpstr>Introduction</vt:lpstr>
      <vt:lpstr>Existing System</vt:lpstr>
      <vt:lpstr>Existing System Pros and Cons</vt:lpstr>
      <vt:lpstr>Proposed Model</vt:lpstr>
      <vt:lpstr>Proposed Model Flow Diagram</vt:lpstr>
      <vt:lpstr>Specifications of data set</vt:lpstr>
      <vt:lpstr>Proposed model results</vt:lpstr>
      <vt:lpstr>Proposed model results</vt:lpstr>
      <vt:lpstr>Proposed model results</vt:lpstr>
      <vt:lpstr>Existing Model Vs Proposed Model</vt:lpstr>
      <vt:lpstr>Sustainable Development Goals (SDGs)</vt:lpstr>
      <vt:lpstr>Conclusion</vt:lpstr>
      <vt:lpstr> Future directions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</dc:title>
  <dc:creator>Venu Gopal Sakkera</dc:creator>
  <cp:lastModifiedBy>Saranya Dhulipala</cp:lastModifiedBy>
  <cp:revision>218</cp:revision>
  <dcterms:created xsi:type="dcterms:W3CDTF">2006-08-16T00:00:00Z</dcterms:created>
  <dcterms:modified xsi:type="dcterms:W3CDTF">2025-05-02T04:50:58Z</dcterms:modified>
</cp:coreProperties>
</file>